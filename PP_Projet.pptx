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notesMasterIdLst>
    <p:notesMasterId r:id="rId18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9" r:id="rId10"/>
    <p:sldId id="270" r:id="rId11"/>
    <p:sldId id="263" r:id="rId12"/>
    <p:sldId id="264" r:id="rId13"/>
    <p:sldId id="265" r:id="rId14"/>
    <p:sldId id="266" r:id="rId15"/>
    <p:sldId id="268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0B701-4508-47C4-8758-58E25743DC01}" type="datetimeFigureOut">
              <a:rPr lang="fr-FR" smtClean="0"/>
              <a:t>06/06/2023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6EB53-E983-40E4-83D4-92868A0BAA8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0725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183392F-8C80-4D34-B093-A6D70BA717B8}" type="datetime1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10842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D83CA-D902-407B-86CE-A9C383504D84}" type="datetime1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92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D90B-2D25-4E6B-AF8D-5C28A025E35E}" type="datetime1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8585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C9C0-AE88-4721-AEFD-F626A50CDD23}" type="datetime1">
              <a:rPr lang="en-US" smtClean="0"/>
              <a:t>6/6/2023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769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906CA-1E19-488C-A107-048F3F075BA6}" type="datetime1">
              <a:rPr lang="en-US" smtClean="0"/>
              <a:t>6/6/2023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875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0C232-83F3-4D6C-B61F-E5FC5AEE0962}" type="datetime1">
              <a:rPr lang="en-US" smtClean="0"/>
              <a:t>6/6/2023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49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59792-F53F-4FDA-8166-2FA46E73159C}" type="datetime1">
              <a:rPr lang="en-US" smtClean="0"/>
              <a:t>6/6/2023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41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19E6-250D-4546-A90F-704EB43EA26B}" type="datetime1">
              <a:rPr lang="en-US" smtClean="0"/>
              <a:t>6/6/2023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709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270ED-4986-496D-ADE3-6E6FB11ED8CD}" type="datetime1">
              <a:rPr lang="en-US" smtClean="0"/>
              <a:t>6/6/2023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2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6AA3A-0353-49C7-97F3-1792FA6DA16D}" type="datetime1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3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8726-873B-416F-9194-4A4688CEB2CE}" type="datetime1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326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67D4C17-5FEC-4EC7-AF66-301A2DA603C8}" type="datetime1">
              <a:rPr lang="en-US" smtClean="0"/>
              <a:t>6/6/2023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43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otif géométrique rouge abstrait">
            <a:extLst>
              <a:ext uri="{FF2B5EF4-FFF2-40B4-BE49-F238E27FC236}">
                <a16:creationId xmlns:a16="http://schemas.microsoft.com/office/drawing/2014/main" id="{8AA3308F-8082-33F6-861C-4CE0D8CBF6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22" r="35444" b="-1"/>
          <a:stretch/>
        </p:blipFill>
        <p:spPr>
          <a:xfrm>
            <a:off x="20" y="10"/>
            <a:ext cx="609598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0" y="0"/>
                </a:moveTo>
                <a:lnTo>
                  <a:pt x="2758239" y="0"/>
                </a:lnTo>
                <a:lnTo>
                  <a:pt x="2916747" y="218181"/>
                </a:lnTo>
                <a:cubicBezTo>
                  <a:pt x="3525935" y="1023180"/>
                  <a:pt x="4281133" y="1818277"/>
                  <a:pt x="4839749" y="2631787"/>
                </a:cubicBezTo>
                <a:cubicBezTo>
                  <a:pt x="5571203" y="3696928"/>
                  <a:pt x="6122704" y="4799581"/>
                  <a:pt x="6095001" y="5672947"/>
                </a:cubicBezTo>
                <a:cubicBezTo>
                  <a:pt x="6083564" y="6040467"/>
                  <a:pt x="5972980" y="6348559"/>
                  <a:pt x="5792922" y="6612444"/>
                </a:cubicBezTo>
                <a:cubicBezTo>
                  <a:pt x="5755410" y="6667420"/>
                  <a:pt x="5714882" y="6720477"/>
                  <a:pt x="5671607" y="6771753"/>
                </a:cubicBezTo>
                <a:lnTo>
                  <a:pt x="559164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9578E2C-F12D-9407-A8C9-697001E5E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0" y="933061"/>
            <a:ext cx="4572000" cy="2876939"/>
          </a:xfrm>
        </p:spPr>
        <p:txBody>
          <a:bodyPr>
            <a:normAutofit/>
          </a:bodyPr>
          <a:lstStyle/>
          <a:p>
            <a:r>
              <a:rPr lang="fr-FR" sz="4400" dirty="0"/>
              <a:t>Computer Vision pour la lecture automatique de factures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EAC59F4-AE65-5CFC-FC48-AE6134E9A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6103" y="4472483"/>
            <a:ext cx="5612235" cy="1996579"/>
          </a:xfrm>
        </p:spPr>
        <p:txBody>
          <a:bodyPr>
            <a:normAutofit lnSpcReduction="10000"/>
          </a:bodyPr>
          <a:lstStyle/>
          <a:p>
            <a:pPr algn="l">
              <a:spcBef>
                <a:spcPts val="0"/>
              </a:spcBef>
            </a:pPr>
            <a:r>
              <a:rPr lang="fr-FR" u="sng" dirty="0"/>
              <a:t>ingé 2I</a:t>
            </a:r>
          </a:p>
          <a:p>
            <a:pPr algn="l">
              <a:spcBef>
                <a:spcPts val="0"/>
              </a:spcBef>
            </a:pPr>
            <a:endParaRPr lang="fr-FR" u="sng" dirty="0"/>
          </a:p>
          <a:p>
            <a:pPr algn="l">
              <a:spcBef>
                <a:spcPts val="0"/>
              </a:spcBef>
            </a:pPr>
            <a:r>
              <a:rPr lang="fr-FR" dirty="0"/>
              <a:t>BERDUGO David</a:t>
            </a:r>
          </a:p>
          <a:p>
            <a:pPr algn="l">
              <a:spcBef>
                <a:spcPts val="0"/>
              </a:spcBef>
            </a:pPr>
            <a:r>
              <a:rPr lang="fr-FR" dirty="0"/>
              <a:t>DUCHATELLE Hubert</a:t>
            </a:r>
          </a:p>
          <a:p>
            <a:pPr algn="l">
              <a:spcBef>
                <a:spcPts val="0"/>
              </a:spcBef>
            </a:pPr>
            <a:r>
              <a:rPr lang="fr-FR" dirty="0"/>
              <a:t>GAO Loïc</a:t>
            </a:r>
          </a:p>
          <a:p>
            <a:pPr algn="l">
              <a:spcBef>
                <a:spcPts val="0"/>
              </a:spcBef>
            </a:pPr>
            <a:r>
              <a:rPr lang="fr-FR" dirty="0"/>
              <a:t>PARRIAUD Arthur</a:t>
            </a:r>
          </a:p>
          <a:p>
            <a:pPr algn="l">
              <a:spcBef>
                <a:spcPts val="0"/>
              </a:spcBef>
            </a:pPr>
            <a:endParaRPr lang="fr-FR" dirty="0"/>
          </a:p>
        </p:txBody>
      </p:sp>
      <p:pic>
        <p:nvPicPr>
          <p:cNvPr id="6" name="Image 5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E17944FB-740B-095C-3161-6A397E6A47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B69488-E2BE-81A6-731C-6E1742E08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45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DB6B7F-CFCC-5A11-5E4F-11B8A7DAA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24437"/>
            <a:ext cx="10668000" cy="1175857"/>
          </a:xfrm>
        </p:spPr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FD8E1F-CFF7-B9A8-4122-94D936AE2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64547"/>
            <a:ext cx="10668000" cy="1245765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- On se place dans la perspective d’une boîte de conseil essayant de diversifier son offre d’extraction de texte à partir d’images.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5C4603F-0E36-34C2-0A0F-2B2AC7E98F2F}"/>
              </a:ext>
            </a:extLst>
          </p:cNvPr>
          <p:cNvSpPr txBox="1">
            <a:spLocks/>
          </p:cNvSpPr>
          <p:nvPr/>
        </p:nvSpPr>
        <p:spPr>
          <a:xfrm>
            <a:off x="762000" y="2944537"/>
            <a:ext cx="10668000" cy="11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Problématique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630BF23B-B709-73E8-8D46-522C246FDEEB}"/>
              </a:ext>
            </a:extLst>
          </p:cNvPr>
          <p:cNvSpPr txBox="1">
            <a:spLocks/>
          </p:cNvSpPr>
          <p:nvPr/>
        </p:nvSpPr>
        <p:spPr>
          <a:xfrm>
            <a:off x="762000" y="4254619"/>
            <a:ext cx="9631960" cy="1245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800" dirty="0"/>
              <a:t>- Notre dernier client cherche un système capable d’extraire les frais totaux de factures et refuse de nous donner de </a:t>
            </a:r>
            <a:r>
              <a:rPr lang="fr-FR" sz="1800" dirty="0" err="1"/>
              <a:t>dataset</a:t>
            </a:r>
            <a:r>
              <a:rPr lang="fr-FR" sz="1800" dirty="0"/>
              <a:t> pour des raisons réglementaires.</a:t>
            </a:r>
          </a:p>
        </p:txBody>
      </p:sp>
      <p:pic>
        <p:nvPicPr>
          <p:cNvPr id="6" name="Image 5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BFF61EAB-483E-3C48-9539-14644936B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532C069D-0AD7-BFBE-653D-423756B1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34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1C756E8-DB3C-1A3B-3EDF-F72EF3BC38E2}"/>
              </a:ext>
            </a:extLst>
          </p:cNvPr>
          <p:cNvSpPr/>
          <p:nvPr/>
        </p:nvSpPr>
        <p:spPr>
          <a:xfrm>
            <a:off x="4242034" y="4608103"/>
            <a:ext cx="2554877" cy="104662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8A60F573-01FC-71B7-DEDA-9FBAC51EA24F}"/>
              </a:ext>
            </a:extLst>
          </p:cNvPr>
          <p:cNvSpPr/>
          <p:nvPr/>
        </p:nvSpPr>
        <p:spPr>
          <a:xfrm>
            <a:off x="8701211" y="4090635"/>
            <a:ext cx="2330844" cy="2081565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Renvoyer le montant total de la facture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1C057E8-15FB-FB66-72CE-3B8C645C6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56" y="36788"/>
            <a:ext cx="5143850" cy="835035"/>
          </a:xfrm>
        </p:spPr>
        <p:txBody>
          <a:bodyPr/>
          <a:lstStyle/>
          <a:p>
            <a:r>
              <a:rPr lang="fr-FR" dirty="0"/>
              <a:t>Solution Proposée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5C413B-3C3E-52BA-33CF-4CCBC410D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8854" y="6172200"/>
            <a:ext cx="7492235" cy="4530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Application hébergée sur cloud -&gt; Utilisation par appel API</a:t>
            </a:r>
          </a:p>
          <a:p>
            <a:endParaRPr lang="fr-FR" dirty="0"/>
          </a:p>
        </p:txBody>
      </p:sp>
      <p:pic>
        <p:nvPicPr>
          <p:cNvPr id="4" name="Image 3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9408AC33-319E-4CA9-1840-456355665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E4B712-7BC0-8959-03CC-7C4C9392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916833-E9BD-B1CD-D29F-E335BC1B821D}"/>
              </a:ext>
            </a:extLst>
          </p:cNvPr>
          <p:cNvSpPr/>
          <p:nvPr/>
        </p:nvSpPr>
        <p:spPr>
          <a:xfrm>
            <a:off x="2337734" y="4193949"/>
            <a:ext cx="1904301" cy="154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Traitement de l’image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9D3B7C-1BDE-7632-F48A-EF3A13B8246D}"/>
              </a:ext>
            </a:extLst>
          </p:cNvPr>
          <p:cNvSpPr/>
          <p:nvPr/>
        </p:nvSpPr>
        <p:spPr>
          <a:xfrm>
            <a:off x="4567323" y="4193951"/>
            <a:ext cx="1904301" cy="1541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Extraction de texte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586AD9-1803-B16B-873E-A90F66FE3810}"/>
              </a:ext>
            </a:extLst>
          </p:cNvPr>
          <p:cNvSpPr/>
          <p:nvPr/>
        </p:nvSpPr>
        <p:spPr>
          <a:xfrm>
            <a:off x="6796912" y="4193949"/>
            <a:ext cx="1904301" cy="1541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Traitement de texte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7C3BCF-B2A9-997E-D68F-8A3F720E630A}"/>
              </a:ext>
            </a:extLst>
          </p:cNvPr>
          <p:cNvSpPr/>
          <p:nvPr/>
        </p:nvSpPr>
        <p:spPr>
          <a:xfrm>
            <a:off x="364056" y="4608103"/>
            <a:ext cx="1973678" cy="104662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Partir d’un </a:t>
            </a:r>
            <a:r>
              <a:rPr lang="fr-FR" dirty="0" err="1"/>
              <a:t>dataset</a:t>
            </a:r>
            <a:r>
              <a:rPr lang="fr-FR" dirty="0"/>
              <a:t> de basse qualité</a:t>
            </a:r>
          </a:p>
        </p:txBody>
      </p:sp>
      <p:pic>
        <p:nvPicPr>
          <p:cNvPr id="17" name="Image 16" descr="Une image contenant texte, menu, fournitures de bureau, intérieur&#10;&#10;Description générée automatiquement">
            <a:extLst>
              <a:ext uri="{FF2B5EF4-FFF2-40B4-BE49-F238E27FC236}">
                <a16:creationId xmlns:a16="http://schemas.microsoft.com/office/drawing/2014/main" id="{8D9DEB07-BA28-19E8-68F7-E82E64C69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56" y="1459274"/>
            <a:ext cx="1610418" cy="214722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BF279F40-A0E5-C414-118E-4FC9E99E9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806" y="1459274"/>
            <a:ext cx="1616396" cy="214722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F36153B5-2FB8-88AB-6ADF-ADAEA6350E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5861" y="1420097"/>
            <a:ext cx="1178220" cy="214722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471566F-EEED-CBB8-AC4D-F0BADDE4549F}"/>
              </a:ext>
            </a:extLst>
          </p:cNvPr>
          <p:cNvSpPr/>
          <p:nvPr/>
        </p:nvSpPr>
        <p:spPr>
          <a:xfrm>
            <a:off x="9037950" y="2150988"/>
            <a:ext cx="1227804" cy="763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14,00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4FAA0545-96A0-65E4-15AF-AE0DE3C727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6740" y="1297058"/>
            <a:ext cx="1624643" cy="247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120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66C765-F315-04BC-70A2-F4F01CB9B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4103"/>
            <a:ext cx="10668000" cy="1524000"/>
          </a:xfrm>
        </p:spPr>
        <p:txBody>
          <a:bodyPr/>
          <a:lstStyle/>
          <a:p>
            <a:r>
              <a:rPr lang="fr-FR" dirty="0"/>
              <a:t>Table des Matières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90EA41-305D-8A93-3B16-B1DBACEA0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37858"/>
            <a:ext cx="10668000" cy="3917658"/>
          </a:xfrm>
        </p:spPr>
        <p:txBody>
          <a:bodyPr/>
          <a:lstStyle/>
          <a:p>
            <a:r>
              <a:rPr lang="fr-FR" dirty="0"/>
              <a:t>Etat de l’art</a:t>
            </a:r>
          </a:p>
          <a:p>
            <a:r>
              <a:rPr lang="fr-FR" dirty="0"/>
              <a:t>Méthodologie de travail</a:t>
            </a:r>
          </a:p>
          <a:p>
            <a:r>
              <a:rPr lang="fr-FR" dirty="0"/>
              <a:t>Résultat</a:t>
            </a:r>
          </a:p>
          <a:p>
            <a:r>
              <a:rPr lang="fr-FR" dirty="0"/>
              <a:t>Versions du projet</a:t>
            </a:r>
          </a:p>
          <a:p>
            <a:r>
              <a:rPr lang="fr-FR" dirty="0"/>
              <a:t>Analyse des résultats</a:t>
            </a:r>
          </a:p>
        </p:txBody>
      </p:sp>
      <p:pic>
        <p:nvPicPr>
          <p:cNvPr id="4" name="Image 3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43B42E2B-5581-8D5A-34A2-4207A39F8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E1E502-0140-6DDA-E8BA-4BBF74B2C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82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D62B28-DD5F-1FD7-F617-A83DF3B655A7}"/>
              </a:ext>
            </a:extLst>
          </p:cNvPr>
          <p:cNvSpPr/>
          <p:nvPr/>
        </p:nvSpPr>
        <p:spPr>
          <a:xfrm>
            <a:off x="3859155" y="1049769"/>
            <a:ext cx="7840449" cy="4758462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7E0B4A-8E59-2A36-7ECC-170A665E1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836" y="343997"/>
            <a:ext cx="3467991" cy="902106"/>
          </a:xfrm>
        </p:spPr>
        <p:txBody>
          <a:bodyPr/>
          <a:lstStyle/>
          <a:p>
            <a:r>
              <a:rPr lang="fr-FR" dirty="0"/>
              <a:t>Etat de l’Art</a:t>
            </a:r>
          </a:p>
        </p:txBody>
      </p:sp>
      <p:pic>
        <p:nvPicPr>
          <p:cNvPr id="4" name="Image 3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C1F08646-EB35-7FC7-0E79-D05FF8F15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A9C0DE9-AABD-D0B6-0391-60B1814A5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478" y="1137309"/>
            <a:ext cx="3795901" cy="458338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E9AE59E-F409-199D-50E8-4A3355941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707" y="1137309"/>
            <a:ext cx="3619668" cy="4581329"/>
          </a:xfrm>
          <a:prstGeom prst="rect">
            <a:avLst/>
          </a:prstGeom>
        </p:spPr>
      </p:pic>
      <p:pic>
        <p:nvPicPr>
          <p:cNvPr id="10" name="Image 9" descr="Une image contenant texte, reçu&#10;&#10;Description générée automatiquement">
            <a:extLst>
              <a:ext uri="{FF2B5EF4-FFF2-40B4-BE49-F238E27FC236}">
                <a16:creationId xmlns:a16="http://schemas.microsoft.com/office/drawing/2014/main" id="{029760BD-5DA9-FE29-EEDF-F05A01413E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2" y="1771650"/>
            <a:ext cx="3314700" cy="3314700"/>
          </a:xfrm>
          <a:prstGeom prst="rect">
            <a:avLst/>
          </a:prstGeom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6AE07DE-7D26-2589-2B86-E0F7F7507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18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356102-FD7C-F029-20EF-BD099DD84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833" y="173202"/>
            <a:ext cx="10668000" cy="745045"/>
          </a:xfrm>
        </p:spPr>
        <p:txBody>
          <a:bodyPr/>
          <a:lstStyle/>
          <a:p>
            <a:r>
              <a:rPr lang="fr-FR" dirty="0"/>
              <a:t>Méthodologie de travail</a:t>
            </a:r>
          </a:p>
        </p:txBody>
      </p:sp>
      <p:pic>
        <p:nvPicPr>
          <p:cNvPr id="5" name="Image 4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2660460B-BCAE-1DC8-B50A-352D69D2D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337317E-11BF-7A68-9548-C69350A019F3}"/>
              </a:ext>
            </a:extLst>
          </p:cNvPr>
          <p:cNvSpPr/>
          <p:nvPr/>
        </p:nvSpPr>
        <p:spPr>
          <a:xfrm>
            <a:off x="1834394" y="2871132"/>
            <a:ext cx="2281805" cy="11157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Programme fonctionnel</a:t>
            </a:r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BA727EAC-2FB3-1577-42AF-092C7B9D10D2}"/>
              </a:ext>
            </a:extLst>
          </p:cNvPr>
          <p:cNvSpPr/>
          <p:nvPr/>
        </p:nvSpPr>
        <p:spPr>
          <a:xfrm>
            <a:off x="527108" y="3147969"/>
            <a:ext cx="1182848" cy="5620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Début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A7CE5EAB-599F-52F6-DB0F-9B5D0D75DF49}"/>
              </a:ext>
            </a:extLst>
          </p:cNvPr>
          <p:cNvSpPr/>
          <p:nvPr/>
        </p:nvSpPr>
        <p:spPr>
          <a:xfrm>
            <a:off x="7954204" y="2750540"/>
            <a:ext cx="2669096" cy="14041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Implémentation dans le code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2940A30-B6A7-51F8-677C-A5AF29B2872F}"/>
              </a:ext>
            </a:extLst>
          </p:cNvPr>
          <p:cNvSpPr/>
          <p:nvPr/>
        </p:nvSpPr>
        <p:spPr>
          <a:xfrm>
            <a:off x="4761452" y="1192636"/>
            <a:ext cx="2669096" cy="14041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Nouvelle idée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08C7CF4-2B33-1CD4-3414-CABE9A6B5DA1}"/>
              </a:ext>
            </a:extLst>
          </p:cNvPr>
          <p:cNvSpPr/>
          <p:nvPr/>
        </p:nvSpPr>
        <p:spPr>
          <a:xfrm>
            <a:off x="5810076" y="4963310"/>
            <a:ext cx="2669096" cy="14041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Essai sur notre </a:t>
            </a:r>
            <a:r>
              <a:rPr lang="fr-FR" dirty="0" err="1"/>
              <a:t>dataset</a:t>
            </a:r>
            <a:endParaRPr lang="fr-FR" dirty="0"/>
          </a:p>
        </p:txBody>
      </p:sp>
      <p:cxnSp>
        <p:nvCxnSpPr>
          <p:cNvPr id="14" name="Connecteur : en arc 13">
            <a:extLst>
              <a:ext uri="{FF2B5EF4-FFF2-40B4-BE49-F238E27FC236}">
                <a16:creationId xmlns:a16="http://schemas.microsoft.com/office/drawing/2014/main" id="{68547BB7-2EA6-1A7A-034D-86D10F9CCAEB}"/>
              </a:ext>
            </a:extLst>
          </p:cNvPr>
          <p:cNvCxnSpPr>
            <a:stCxn id="4" idx="0"/>
            <a:endCxn id="11" idx="2"/>
          </p:cNvCxnSpPr>
          <p:nvPr/>
        </p:nvCxnSpPr>
        <p:spPr>
          <a:xfrm rot="5400000" flipH="1" flipV="1">
            <a:off x="3380153" y="1489834"/>
            <a:ext cx="976442" cy="1786155"/>
          </a:xfrm>
          <a:prstGeom prst="curvedConnector2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 : en arc 15">
            <a:extLst>
              <a:ext uri="{FF2B5EF4-FFF2-40B4-BE49-F238E27FC236}">
                <a16:creationId xmlns:a16="http://schemas.microsoft.com/office/drawing/2014/main" id="{2FD6F2F6-9644-1994-8350-A94B6A2A1B1C}"/>
              </a:ext>
            </a:extLst>
          </p:cNvPr>
          <p:cNvCxnSpPr>
            <a:cxnSpLocks/>
            <a:stCxn id="11" idx="6"/>
            <a:endCxn id="10" idx="0"/>
          </p:cNvCxnSpPr>
          <p:nvPr/>
        </p:nvCxnSpPr>
        <p:spPr>
          <a:xfrm>
            <a:off x="7430548" y="1894690"/>
            <a:ext cx="1858204" cy="855850"/>
          </a:xfrm>
          <a:prstGeom prst="curvedConnector2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 : en arc 29">
            <a:extLst>
              <a:ext uri="{FF2B5EF4-FFF2-40B4-BE49-F238E27FC236}">
                <a16:creationId xmlns:a16="http://schemas.microsoft.com/office/drawing/2014/main" id="{BEBF5461-E9E8-A399-6614-C7B89174F797}"/>
              </a:ext>
            </a:extLst>
          </p:cNvPr>
          <p:cNvCxnSpPr>
            <a:stCxn id="10" idx="4"/>
            <a:endCxn id="12" idx="6"/>
          </p:cNvCxnSpPr>
          <p:nvPr/>
        </p:nvCxnSpPr>
        <p:spPr>
          <a:xfrm rot="5400000">
            <a:off x="8128604" y="4505216"/>
            <a:ext cx="1510716" cy="809580"/>
          </a:xfrm>
          <a:prstGeom prst="curvedConnector2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9C51402-FDAB-246E-9B8A-AD8498F66CBA}"/>
              </a:ext>
            </a:extLst>
          </p:cNvPr>
          <p:cNvSpPr/>
          <p:nvPr/>
        </p:nvSpPr>
        <p:spPr>
          <a:xfrm>
            <a:off x="2833425" y="4706575"/>
            <a:ext cx="1928027" cy="675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Amélioration de la précision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26F21B-19FD-A7BC-DFAA-561B558ED020}"/>
              </a:ext>
            </a:extLst>
          </p:cNvPr>
          <p:cNvSpPr/>
          <p:nvPr/>
        </p:nvSpPr>
        <p:spPr>
          <a:xfrm>
            <a:off x="2833425" y="5822310"/>
            <a:ext cx="1928027" cy="675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Baisse de la précision</a:t>
            </a:r>
          </a:p>
        </p:txBody>
      </p:sp>
      <p:cxnSp>
        <p:nvCxnSpPr>
          <p:cNvPr id="38" name="Connecteur : en arc 37">
            <a:extLst>
              <a:ext uri="{FF2B5EF4-FFF2-40B4-BE49-F238E27FC236}">
                <a16:creationId xmlns:a16="http://schemas.microsoft.com/office/drawing/2014/main" id="{0D96E1FF-C33B-AA55-F994-FFE3A50A417D}"/>
              </a:ext>
            </a:extLst>
          </p:cNvPr>
          <p:cNvCxnSpPr>
            <a:stCxn id="12" idx="2"/>
            <a:endCxn id="34" idx="3"/>
          </p:cNvCxnSpPr>
          <p:nvPr/>
        </p:nvCxnSpPr>
        <p:spPr>
          <a:xfrm rot="10800000">
            <a:off x="4761452" y="5044100"/>
            <a:ext cx="1048624" cy="621264"/>
          </a:xfrm>
          <a:prstGeom prst="curvedConnector3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 : en arc 39">
            <a:extLst>
              <a:ext uri="{FF2B5EF4-FFF2-40B4-BE49-F238E27FC236}">
                <a16:creationId xmlns:a16="http://schemas.microsoft.com/office/drawing/2014/main" id="{EF49B944-E463-2170-C0FF-ADF1283C1AE4}"/>
              </a:ext>
            </a:extLst>
          </p:cNvPr>
          <p:cNvCxnSpPr>
            <a:stCxn id="12" idx="2"/>
            <a:endCxn id="36" idx="3"/>
          </p:cNvCxnSpPr>
          <p:nvPr/>
        </p:nvCxnSpPr>
        <p:spPr>
          <a:xfrm rot="10800000" flipV="1">
            <a:off x="4761452" y="5665363"/>
            <a:ext cx="1048624" cy="494471"/>
          </a:xfrm>
          <a:prstGeom prst="curvedConnector3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 : en arc 42">
            <a:extLst>
              <a:ext uri="{FF2B5EF4-FFF2-40B4-BE49-F238E27FC236}">
                <a16:creationId xmlns:a16="http://schemas.microsoft.com/office/drawing/2014/main" id="{3333521A-2338-AB89-4E68-0AEC53AB0B22}"/>
              </a:ext>
            </a:extLst>
          </p:cNvPr>
          <p:cNvCxnSpPr>
            <a:stCxn id="34" idx="0"/>
            <a:endCxn id="4" idx="2"/>
          </p:cNvCxnSpPr>
          <p:nvPr/>
        </p:nvCxnSpPr>
        <p:spPr>
          <a:xfrm rot="16200000" flipV="1">
            <a:off x="3026515" y="3935651"/>
            <a:ext cx="719707" cy="822142"/>
          </a:xfrm>
          <a:prstGeom prst="curvedConnector3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FE663691-374C-4393-93FB-93CA262A09AB}"/>
              </a:ext>
            </a:extLst>
          </p:cNvPr>
          <p:cNvSpPr/>
          <p:nvPr/>
        </p:nvSpPr>
        <p:spPr>
          <a:xfrm>
            <a:off x="381085" y="5822310"/>
            <a:ext cx="1928027" cy="675049"/>
          </a:xfrm>
          <a:prstGeom prst="rect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Abandon de l’idée</a:t>
            </a:r>
          </a:p>
        </p:txBody>
      </p:sp>
      <p:cxnSp>
        <p:nvCxnSpPr>
          <p:cNvPr id="48" name="Connecteur : en arc 47">
            <a:extLst>
              <a:ext uri="{FF2B5EF4-FFF2-40B4-BE49-F238E27FC236}">
                <a16:creationId xmlns:a16="http://schemas.microsoft.com/office/drawing/2014/main" id="{A0E416EA-5F54-B218-F095-E8C0655A3716}"/>
              </a:ext>
            </a:extLst>
          </p:cNvPr>
          <p:cNvCxnSpPr>
            <a:stCxn id="36" idx="1"/>
            <a:endCxn id="44" idx="3"/>
          </p:cNvCxnSpPr>
          <p:nvPr/>
        </p:nvCxnSpPr>
        <p:spPr>
          <a:xfrm rot="10800000">
            <a:off x="2309113" y="6159835"/>
            <a:ext cx="524313" cy="12700"/>
          </a:xfrm>
          <a:prstGeom prst="curvedConnector3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space réservé du numéro de diapositive 49">
            <a:extLst>
              <a:ext uri="{FF2B5EF4-FFF2-40B4-BE49-F238E27FC236}">
                <a16:creationId xmlns:a16="http://schemas.microsoft.com/office/drawing/2014/main" id="{4C127302-D939-0D08-EC98-2F9A74EC8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93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9F753C-C023-CE40-6F3B-BE4A30CB3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98" y="443640"/>
            <a:ext cx="8564759" cy="703214"/>
          </a:xfrm>
        </p:spPr>
        <p:txBody>
          <a:bodyPr/>
          <a:lstStyle/>
          <a:p>
            <a:r>
              <a:rPr lang="fr-FR" dirty="0"/>
              <a:t>Résultats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4CCFBE-815D-4E14-3848-D8D4B27E3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793" y="1877081"/>
            <a:ext cx="5803052" cy="41726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/>
              <a:t>Précision :</a:t>
            </a:r>
            <a:endParaRPr lang="fr-FR" dirty="0"/>
          </a:p>
          <a:p>
            <a:pPr>
              <a:buFontTx/>
              <a:buChar char="-"/>
            </a:pPr>
            <a:r>
              <a:rPr lang="fr-FR" dirty="0"/>
              <a:t>1</a:t>
            </a:r>
            <a:r>
              <a:rPr lang="fr-FR" baseline="30000" dirty="0"/>
              <a:t>er</a:t>
            </a:r>
            <a:r>
              <a:rPr lang="fr-FR" dirty="0"/>
              <a:t>  : Google (98,14%)</a:t>
            </a:r>
          </a:p>
          <a:p>
            <a:pPr>
              <a:buFontTx/>
              <a:buChar char="-"/>
            </a:pPr>
            <a:r>
              <a:rPr lang="fr-FR" dirty="0"/>
              <a:t>2</a:t>
            </a:r>
            <a:r>
              <a:rPr lang="fr-FR" baseline="30000" dirty="0"/>
              <a:t>ème</a:t>
            </a:r>
            <a:r>
              <a:rPr lang="fr-FR" dirty="0"/>
              <a:t> : Amazon (92,59%)</a:t>
            </a:r>
          </a:p>
          <a:p>
            <a:pPr>
              <a:buFontTx/>
              <a:buChar char="-"/>
            </a:pPr>
            <a:r>
              <a:rPr lang="fr-FR" dirty="0"/>
              <a:t>3</a:t>
            </a:r>
            <a:r>
              <a:rPr lang="fr-FR" baseline="30000" dirty="0"/>
              <a:t>ème</a:t>
            </a:r>
            <a:r>
              <a:rPr lang="fr-FR" dirty="0"/>
              <a:t> : Projet V2 (47,17%)</a:t>
            </a:r>
          </a:p>
          <a:p>
            <a:pPr>
              <a:buFontTx/>
              <a:buChar char="-"/>
            </a:pPr>
            <a:r>
              <a:rPr lang="fr-FR" dirty="0"/>
              <a:t>4</a:t>
            </a:r>
            <a:r>
              <a:rPr lang="fr-FR" baseline="30000" dirty="0"/>
              <a:t>ème</a:t>
            </a:r>
            <a:r>
              <a:rPr lang="fr-FR" dirty="0"/>
              <a:t> : Projet V1 (31,48%)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8" name="Image 7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DD0118CA-F06C-50FB-5460-D9590188E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F254950-B2F0-F038-92B1-4D95CBDB6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33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DD0DA6-93DF-A9A1-471D-E0BED2EF8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2641"/>
            <a:ext cx="10668000" cy="1524000"/>
          </a:xfrm>
        </p:spPr>
        <p:txBody>
          <a:bodyPr/>
          <a:lstStyle/>
          <a:p>
            <a:r>
              <a:rPr lang="fr-FR" dirty="0"/>
              <a:t>Projet V1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E680CE-62CC-C4D5-2649-F574C291B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07" y="2111372"/>
            <a:ext cx="10668000" cy="3818083"/>
          </a:xfrm>
        </p:spPr>
        <p:txBody>
          <a:bodyPr/>
          <a:lstStyle/>
          <a:p>
            <a:r>
              <a:rPr lang="fr-FR" b="1" dirty="0"/>
              <a:t>31,48% de précision</a:t>
            </a:r>
          </a:p>
          <a:p>
            <a:r>
              <a:rPr lang="fr-FR" u="sng" dirty="0"/>
              <a:t>Création de la classe </a:t>
            </a:r>
            <a:r>
              <a:rPr lang="fr-FR" u="sng" dirty="0" err="1"/>
              <a:t>ImageToRead</a:t>
            </a:r>
            <a:r>
              <a:rPr lang="fr-FR" u="sng" dirty="0"/>
              <a:t> contenant nos méthodes:</a:t>
            </a:r>
          </a:p>
          <a:p>
            <a:pPr marL="0" indent="0">
              <a:buNone/>
            </a:pPr>
            <a:r>
              <a:rPr lang="fr-FR" dirty="0" err="1"/>
              <a:t>ResizeImage</a:t>
            </a:r>
            <a:r>
              <a:rPr lang="fr-FR" dirty="0"/>
              <a:t>, Rgb2Gray, </a:t>
            </a:r>
            <a:r>
              <a:rPr lang="fr-FR" dirty="0" err="1"/>
              <a:t>BlurImage</a:t>
            </a:r>
            <a:r>
              <a:rPr lang="fr-FR" dirty="0"/>
              <a:t>, </a:t>
            </a:r>
            <a:r>
              <a:rPr lang="fr-FR" dirty="0" err="1"/>
              <a:t>DilateImage</a:t>
            </a:r>
            <a:r>
              <a:rPr lang="fr-FR" dirty="0"/>
              <a:t>, </a:t>
            </a:r>
            <a:r>
              <a:rPr lang="fr-FR" dirty="0" err="1"/>
              <a:t>CropOnEdge</a:t>
            </a:r>
            <a:r>
              <a:rPr lang="fr-FR" dirty="0"/>
              <a:t>, </a:t>
            </a:r>
            <a:r>
              <a:rPr lang="fr-FR" dirty="0" err="1"/>
              <a:t>ExtractText</a:t>
            </a:r>
            <a:r>
              <a:rPr lang="fr-FR" dirty="0"/>
              <a:t>, </a:t>
            </a:r>
            <a:r>
              <a:rPr lang="fr-FR" dirty="0" err="1"/>
              <a:t>ExtractBiggerText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FONCTIONNEMENT: 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Image 3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372167F7-1157-46D9-36D4-DD04DA3AB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F1DA09C4-F32F-3E30-59CF-866F7A44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030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DD0DA6-93DF-A9A1-471D-E0BED2EF8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2641"/>
            <a:ext cx="10668000" cy="1524000"/>
          </a:xfrm>
        </p:spPr>
        <p:txBody>
          <a:bodyPr/>
          <a:lstStyle/>
          <a:p>
            <a:r>
              <a:rPr lang="fr-FR" dirty="0"/>
              <a:t>Projet V1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E680CE-62CC-C4D5-2649-F574C291B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83" y="1826146"/>
            <a:ext cx="10668000" cy="3818083"/>
          </a:xfrm>
        </p:spPr>
        <p:txBody>
          <a:bodyPr>
            <a:normAutofit/>
          </a:bodyPr>
          <a:lstStyle/>
          <a:p>
            <a:r>
              <a:rPr lang="fr-FR" b="1" dirty="0"/>
              <a:t>FONCTIONNEMENT: </a:t>
            </a:r>
          </a:p>
          <a:p>
            <a:pPr>
              <a:buFontTx/>
              <a:buChar char="-"/>
            </a:pPr>
            <a:r>
              <a:rPr lang="fr-FR" u="sng" dirty="0"/>
              <a:t>Traitement de l’image</a:t>
            </a:r>
            <a:r>
              <a:rPr lang="fr-FR" dirty="0"/>
              <a:t>: </a:t>
            </a:r>
          </a:p>
          <a:p>
            <a:pPr marL="0" indent="0">
              <a:buNone/>
            </a:pPr>
            <a:r>
              <a:rPr lang="fr-FR" dirty="0"/>
              <a:t>      </a:t>
            </a:r>
            <a:r>
              <a:rPr lang="fr-FR" b="1" dirty="0"/>
              <a:t>Suppression du bruit : </a:t>
            </a:r>
            <a:r>
              <a:rPr lang="fr-FR" dirty="0"/>
              <a:t>rapetisser l’image, passage en noir et blanc,  appliquer du flou et de l’érosion pour se débarrasser du bruit. </a:t>
            </a:r>
          </a:p>
          <a:p>
            <a:pPr marL="0" indent="0">
              <a:buNone/>
            </a:pPr>
            <a:r>
              <a:rPr lang="fr-FR" dirty="0"/>
              <a:t>      </a:t>
            </a:r>
            <a:r>
              <a:rPr lang="fr-FR" b="1" dirty="0"/>
              <a:t>Projection de l’image : </a:t>
            </a:r>
            <a:r>
              <a:rPr lang="fr-FR" dirty="0"/>
              <a:t>dilatation de l’image pour faciliter la détection du contour du reçu puis changement de perspective de l’image.</a:t>
            </a:r>
          </a:p>
          <a:p>
            <a:pPr>
              <a:buFontTx/>
              <a:buChar char="-"/>
            </a:pPr>
            <a:r>
              <a:rPr lang="fr-FR" u="sng" dirty="0"/>
              <a:t>Extraction de texte:</a:t>
            </a:r>
            <a:r>
              <a:rPr lang="fr-FR" dirty="0"/>
              <a:t> tout ce qui est lisible avec Tesseract.</a:t>
            </a:r>
          </a:p>
          <a:p>
            <a:pPr>
              <a:buFontTx/>
              <a:buChar char="-"/>
            </a:pPr>
            <a:r>
              <a:rPr lang="fr-FR" u="sng" dirty="0"/>
              <a:t>Traitement de texte:</a:t>
            </a:r>
            <a:r>
              <a:rPr lang="fr-FR" dirty="0"/>
              <a:t> plus grand nombre à virgule inférieur à 1000</a:t>
            </a:r>
          </a:p>
          <a:p>
            <a:pPr>
              <a:buFontTx/>
              <a:buChar char="-"/>
            </a:pPr>
            <a:r>
              <a:rPr lang="fr-FR" u="sng" dirty="0"/>
              <a:t>Recueillir le résultat:</a:t>
            </a:r>
            <a:r>
              <a:rPr lang="fr-FR" dirty="0"/>
              <a:t> résultat placé dans un tableau pour cette combinaison de paramètres</a:t>
            </a:r>
            <a:endParaRPr lang="fr-FR" u="sng" dirty="0"/>
          </a:p>
        </p:txBody>
      </p:sp>
      <p:pic>
        <p:nvPicPr>
          <p:cNvPr id="4" name="Image 3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372167F7-1157-46D9-36D4-DD04DA3AB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99DC2AAE-3ACF-0E5E-0D35-7D056150D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900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DD0DA6-93DF-A9A1-471D-E0BED2EF8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2641"/>
            <a:ext cx="10668000" cy="1524000"/>
          </a:xfrm>
        </p:spPr>
        <p:txBody>
          <a:bodyPr/>
          <a:lstStyle/>
          <a:p>
            <a:r>
              <a:rPr lang="fr-FR" dirty="0"/>
              <a:t>Projet V1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E680CE-62CC-C4D5-2649-F574C291B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883" y="1826146"/>
            <a:ext cx="10668000" cy="3818083"/>
          </a:xfrm>
        </p:spPr>
        <p:txBody>
          <a:bodyPr/>
          <a:lstStyle/>
          <a:p>
            <a:r>
              <a:rPr lang="fr-FR" b="1" dirty="0"/>
              <a:t>FONCTIONNEMENT:</a:t>
            </a:r>
          </a:p>
          <a:p>
            <a:pPr>
              <a:buFontTx/>
              <a:buChar char="-"/>
            </a:pPr>
            <a:r>
              <a:rPr lang="fr-FR" u="sng" dirty="0"/>
              <a:t>Évaluation des résultats par image:</a:t>
            </a:r>
          </a:p>
          <a:p>
            <a:pPr>
              <a:buFontTx/>
              <a:buChar char="-"/>
            </a:pPr>
            <a:endParaRPr lang="fr-FR" u="sng" dirty="0"/>
          </a:p>
          <a:p>
            <a:pPr>
              <a:buFontTx/>
              <a:buChar char="-"/>
            </a:pPr>
            <a:endParaRPr lang="fr-FR" u="sng" dirty="0"/>
          </a:p>
          <a:p>
            <a:pPr>
              <a:buFontTx/>
              <a:buChar char="-"/>
            </a:pPr>
            <a:endParaRPr lang="fr-FR" u="sng" dirty="0"/>
          </a:p>
          <a:p>
            <a:pPr>
              <a:buFontTx/>
              <a:buChar char="-"/>
            </a:pPr>
            <a:endParaRPr lang="fr-FR" u="sng" dirty="0"/>
          </a:p>
          <a:p>
            <a:pPr>
              <a:buFontTx/>
              <a:buChar char="-"/>
            </a:pPr>
            <a:r>
              <a:rPr lang="fr-FR" u="sng" dirty="0"/>
              <a:t>Détection du résultat :</a:t>
            </a:r>
            <a:r>
              <a:rPr lang="fr-FR" dirty="0"/>
              <a:t> choix de la réponse non nulle la plus courante</a:t>
            </a:r>
          </a:p>
        </p:txBody>
      </p:sp>
      <p:pic>
        <p:nvPicPr>
          <p:cNvPr id="4" name="Image 3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372167F7-1157-46D9-36D4-DD04DA3AB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7B07533-D422-B624-3FCB-837AFFD16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71" y="2895600"/>
            <a:ext cx="10559209" cy="1181450"/>
          </a:xfrm>
          <a:prstGeom prst="rect">
            <a:avLst/>
          </a:prstGeom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7F152C9-7C4F-DCA9-993C-8426F3D79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53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AA44FD-AC32-EDAA-A8C9-93FEFF04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25282"/>
            <a:ext cx="10668000" cy="1524000"/>
          </a:xfrm>
        </p:spPr>
        <p:txBody>
          <a:bodyPr/>
          <a:lstStyle/>
          <a:p>
            <a:r>
              <a:rPr lang="fr-FR" dirty="0"/>
              <a:t>Projet V2</a:t>
            </a:r>
          </a:p>
        </p:txBody>
      </p:sp>
      <p:pic>
        <p:nvPicPr>
          <p:cNvPr id="4" name="Image 3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95749169-4139-0F39-CD21-85160CA3A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DE0C4B4A-971A-951D-9FB3-130B73416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07" y="2111372"/>
            <a:ext cx="10668000" cy="3818083"/>
          </a:xfrm>
        </p:spPr>
        <p:txBody>
          <a:bodyPr/>
          <a:lstStyle/>
          <a:p>
            <a:r>
              <a:rPr lang="fr-FR" b="1" dirty="0"/>
              <a:t>47,17% de précision (+ 15,69%)</a:t>
            </a:r>
          </a:p>
          <a:p>
            <a:r>
              <a:rPr lang="fr-FR" u="sng" dirty="0"/>
              <a:t>On rajoute des méthodes dans notre classe:</a:t>
            </a:r>
          </a:p>
          <a:p>
            <a:pPr marL="0" indent="0">
              <a:buNone/>
            </a:pPr>
            <a:r>
              <a:rPr lang="fr-FR" dirty="0" err="1"/>
              <a:t>SplitImage</a:t>
            </a:r>
            <a:r>
              <a:rPr lang="fr-FR" dirty="0"/>
              <a:t>, </a:t>
            </a:r>
            <a:r>
              <a:rPr lang="fr-FR" dirty="0" err="1"/>
              <a:t>AddVerticalStripes</a:t>
            </a:r>
            <a:r>
              <a:rPr lang="fr-FR" dirty="0"/>
              <a:t>, </a:t>
            </a:r>
            <a:r>
              <a:rPr lang="fr-FR" dirty="0" err="1"/>
              <a:t>AddHorizontalStripes</a:t>
            </a:r>
            <a:r>
              <a:rPr lang="fr-FR" dirty="0"/>
              <a:t>, </a:t>
            </a:r>
            <a:r>
              <a:rPr lang="fr-FR" dirty="0" err="1"/>
              <a:t>extract_text_with_rotation</a:t>
            </a:r>
            <a:r>
              <a:rPr lang="fr-FR" dirty="0"/>
              <a:t>, </a:t>
            </a:r>
            <a:r>
              <a:rPr lang="fr-FR" dirty="0" err="1"/>
              <a:t>rotate_image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u="sng" dirty="0"/>
              <a:t>OBJECTIF :</a:t>
            </a:r>
            <a:r>
              <a:rPr lang="fr-FR" dirty="0"/>
              <a:t> Gérer le texte penché, améliorer la détection de bord des reçus</a:t>
            </a:r>
          </a:p>
          <a:p>
            <a:endParaRPr lang="fr-FR" dirty="0"/>
          </a:p>
          <a:p>
            <a:r>
              <a:rPr lang="fr-FR" b="1" dirty="0"/>
              <a:t>FONCTIONNEMENT: </a:t>
            </a:r>
            <a:r>
              <a:rPr lang="fr-FR" dirty="0"/>
              <a:t>On vient rajouter en traitement de l’image la découpe en deux de l’image pour ne garder que la partie inférieure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277080-3FF6-FD83-AA21-810268520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07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BD9E9-9542-DA39-AD9C-8FBACFF2C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65" y="-15551"/>
            <a:ext cx="10668000" cy="1524000"/>
          </a:xfrm>
        </p:spPr>
        <p:txBody>
          <a:bodyPr/>
          <a:lstStyle/>
          <a:p>
            <a:r>
              <a:rPr lang="fr-FR" dirty="0"/>
              <a:t>Google et Amazon</a:t>
            </a:r>
          </a:p>
        </p:txBody>
      </p:sp>
      <p:pic>
        <p:nvPicPr>
          <p:cNvPr id="4" name="Image 3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571551C0-843A-50F4-8DE4-ABB9CD138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65227A0F-58F0-BA85-2B82-45BA63D7B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67" y="2013326"/>
            <a:ext cx="3384130" cy="3818083"/>
          </a:xfrm>
        </p:spPr>
        <p:txBody>
          <a:bodyPr/>
          <a:lstStyle/>
          <a:p>
            <a:r>
              <a:rPr lang="fr-FR" b="1" dirty="0"/>
              <a:t>Précision remarquable</a:t>
            </a:r>
          </a:p>
          <a:p>
            <a:r>
              <a:rPr lang="fr-FR" dirty="0"/>
              <a:t>Payant</a:t>
            </a:r>
          </a:p>
          <a:p>
            <a:r>
              <a:rPr lang="fr-FR" dirty="0"/>
              <a:t>Offre un comparatif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13" name="Espace réservé du numéro de diapositive 12">
            <a:extLst>
              <a:ext uri="{FF2B5EF4-FFF2-40B4-BE49-F238E27FC236}">
                <a16:creationId xmlns:a16="http://schemas.microsoft.com/office/drawing/2014/main" id="{2B0D4F8F-D9F5-79AD-4364-D03C0168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D3B0A3-FF09-2F30-FC5A-2846EFEA90A3}"/>
              </a:ext>
            </a:extLst>
          </p:cNvPr>
          <p:cNvSpPr/>
          <p:nvPr/>
        </p:nvSpPr>
        <p:spPr>
          <a:xfrm>
            <a:off x="3863452" y="1508449"/>
            <a:ext cx="7840449" cy="4758462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8AEBC96-8B40-61C3-447C-D20AD4199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75" y="1595989"/>
            <a:ext cx="3795901" cy="458338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15A714B-004F-CB5F-718F-A0CE43089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004" y="1595989"/>
            <a:ext cx="3619668" cy="4581329"/>
          </a:xfrm>
          <a:prstGeom prst="rect">
            <a:avLst/>
          </a:prstGeom>
        </p:spPr>
      </p:pic>
      <p:pic>
        <p:nvPicPr>
          <p:cNvPr id="10" name="Image 9" descr="Une image contenant texte, reçu&#10;&#10;Description générée automatiquement">
            <a:extLst>
              <a:ext uri="{FF2B5EF4-FFF2-40B4-BE49-F238E27FC236}">
                <a16:creationId xmlns:a16="http://schemas.microsoft.com/office/drawing/2014/main" id="{ECBD277C-1DB7-FD69-8D25-6E51E25B09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97" y="3451225"/>
            <a:ext cx="33147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422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90B78D-B3DE-DC27-E4B1-B256FBD32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65" y="255717"/>
            <a:ext cx="10125994" cy="887283"/>
          </a:xfrm>
        </p:spPr>
        <p:txBody>
          <a:bodyPr/>
          <a:lstStyle/>
          <a:p>
            <a:r>
              <a:rPr lang="fr-FR" dirty="0"/>
              <a:t>Analyse des Résultats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CCD965-CAFF-72E3-7693-0AC66D18B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50" y="1740716"/>
            <a:ext cx="5542384" cy="3818083"/>
          </a:xfrm>
        </p:spPr>
        <p:txBody>
          <a:bodyPr/>
          <a:lstStyle/>
          <a:p>
            <a:r>
              <a:rPr lang="fr-FR" u="sng" dirty="0"/>
              <a:t>Google :</a:t>
            </a:r>
            <a:r>
              <a:rPr lang="fr-FR" dirty="0"/>
              <a:t> Erreur sur 1175, mauvaise détection</a:t>
            </a:r>
          </a:p>
          <a:p>
            <a:r>
              <a:rPr lang="fr-FR" u="sng" dirty="0"/>
              <a:t>Amazon :</a:t>
            </a:r>
            <a:r>
              <a:rPr lang="fr-FR" dirty="0"/>
              <a:t> Plusieurs erreurs de lecture</a:t>
            </a:r>
          </a:p>
          <a:p>
            <a:r>
              <a:rPr lang="fr-FR" u="sng" dirty="0"/>
              <a:t>V1 :</a:t>
            </a:r>
            <a:r>
              <a:rPr lang="fr-FR" dirty="0"/>
              <a:t> Nombreuses erreurs de lecture et mauvaises détections</a:t>
            </a:r>
            <a:endParaRPr lang="fr-FR" u="sng" dirty="0"/>
          </a:p>
          <a:p>
            <a:r>
              <a:rPr lang="fr-FR" u="sng" dirty="0"/>
              <a:t>V2 :</a:t>
            </a:r>
            <a:r>
              <a:rPr lang="fr-FR" dirty="0"/>
              <a:t> Nombres réduits d’erreurs</a:t>
            </a:r>
          </a:p>
        </p:txBody>
      </p:sp>
      <p:pic>
        <p:nvPicPr>
          <p:cNvPr id="5" name="Image 4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FF891F91-B47D-DF25-B896-4F6C665A6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E4A58D-838C-489B-9BBB-2F42FC9F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09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A49752-37AE-F159-D44E-80D621B0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5082"/>
            <a:ext cx="9692640" cy="1325562"/>
          </a:xfrm>
        </p:spPr>
        <p:txBody>
          <a:bodyPr/>
          <a:lstStyle/>
          <a:p>
            <a:r>
              <a:rPr lang="fr-FR" dirty="0"/>
              <a:t>Conclusion et perspective d’avenir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0E169B-EBCE-C1AE-7FBE-53FED415D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u="sng" dirty="0"/>
              <a:t>OBSTACLES RENCONTRÉS</a:t>
            </a:r>
          </a:p>
          <a:p>
            <a:pPr>
              <a:buFontTx/>
              <a:buChar char="-"/>
            </a:pPr>
            <a:r>
              <a:rPr lang="fr-FR" dirty="0"/>
              <a:t>Problème de détection de contours sur les reçus</a:t>
            </a:r>
          </a:p>
          <a:p>
            <a:pPr>
              <a:buFontTx/>
              <a:buChar char="-"/>
            </a:pPr>
            <a:endParaRPr lang="fr-FR" dirty="0"/>
          </a:p>
          <a:p>
            <a:pPr>
              <a:buFontTx/>
              <a:buChar char="-"/>
            </a:pPr>
            <a:endParaRPr lang="fr-FR" dirty="0"/>
          </a:p>
          <a:p>
            <a:pPr>
              <a:buFontTx/>
              <a:buChar char="-"/>
            </a:pPr>
            <a:endParaRPr lang="fr-FR" dirty="0"/>
          </a:p>
          <a:p>
            <a:pPr marL="0" indent="0">
              <a:buNone/>
            </a:pPr>
            <a:r>
              <a:rPr lang="fr-FR" b="1" u="sng" dirty="0"/>
              <a:t>COMMENT NOUS ABORDERIONS LE PROJET AUJOURD’HUI ?</a:t>
            </a:r>
          </a:p>
          <a:p>
            <a:pPr marL="0" indent="0">
              <a:buNone/>
            </a:pPr>
            <a:r>
              <a:rPr lang="fr-FR" dirty="0"/>
              <a:t>- Se forcer à noter des idées pour augmenter la précision</a:t>
            </a:r>
          </a:p>
        </p:txBody>
      </p:sp>
      <p:pic>
        <p:nvPicPr>
          <p:cNvPr id="4" name="Image 3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71354E63-DDF4-BB34-142E-F274B3450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6C9A69-EE16-2539-B77B-18775DFC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81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A49752-37AE-F159-D44E-80D621B0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5082"/>
            <a:ext cx="9692640" cy="1325562"/>
          </a:xfrm>
        </p:spPr>
        <p:txBody>
          <a:bodyPr/>
          <a:lstStyle/>
          <a:p>
            <a:r>
              <a:rPr lang="fr-FR" dirty="0"/>
              <a:t>Conclusion et perspective d’avenir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0E169B-EBCE-C1AE-7FBE-53FED415D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b="1" u="sng" dirty="0"/>
              <a:t>LES  CHALLENGES DU PROJETS</a:t>
            </a:r>
            <a:endParaRPr lang="fr-FR" dirty="0"/>
          </a:p>
          <a:p>
            <a:pPr>
              <a:buFontTx/>
              <a:buChar char="-"/>
            </a:pPr>
            <a:r>
              <a:rPr lang="fr-FR" dirty="0"/>
              <a:t>Méthode classique plus comparable avec l’État de l’Art</a:t>
            </a:r>
          </a:p>
          <a:p>
            <a:pPr>
              <a:buFontTx/>
              <a:buChar char="-"/>
            </a:pPr>
            <a:r>
              <a:rPr lang="fr-FR" dirty="0"/>
              <a:t>Temps de lectures des images</a:t>
            </a:r>
          </a:p>
          <a:p>
            <a:pPr>
              <a:buFontTx/>
              <a:buChar char="-"/>
            </a:pPr>
            <a:endParaRPr lang="fr-FR" b="1" u="sng" dirty="0"/>
          </a:p>
          <a:p>
            <a:pPr marL="0" indent="0">
              <a:buNone/>
            </a:pPr>
            <a:r>
              <a:rPr lang="fr-FR" b="1" u="sng" dirty="0"/>
              <a:t>SI NOUS DEVIONS POURSUIVRE LE PROJET</a:t>
            </a:r>
            <a:endParaRPr lang="fr-FR" dirty="0"/>
          </a:p>
          <a:p>
            <a:pPr>
              <a:buFontTx/>
              <a:buChar char="-"/>
            </a:pPr>
            <a:r>
              <a:rPr lang="fr-FR" dirty="0"/>
              <a:t>Trouver de nouvelles idées pour augmenter la précision</a:t>
            </a:r>
          </a:p>
          <a:p>
            <a:pPr>
              <a:buFontTx/>
              <a:buChar char="-"/>
            </a:pPr>
            <a:r>
              <a:rPr lang="fr-FR" dirty="0"/>
              <a:t>Extraire d’autres informations du reçu (numéro de commande, </a:t>
            </a:r>
            <a:r>
              <a:rPr lang="fr-FR" dirty="0" err="1"/>
              <a:t>etc</a:t>
            </a:r>
            <a:r>
              <a:rPr lang="fr-FR" dirty="0"/>
              <a:t>)</a:t>
            </a:r>
          </a:p>
          <a:p>
            <a:pPr>
              <a:buFontTx/>
              <a:buChar char="-"/>
            </a:pPr>
            <a:r>
              <a:rPr lang="fr-FR" dirty="0"/>
              <a:t>Réduire le temps de lectures</a:t>
            </a:r>
          </a:p>
          <a:p>
            <a:pPr>
              <a:buFontTx/>
              <a:buChar char="-"/>
            </a:pPr>
            <a:r>
              <a:rPr lang="fr-FR" dirty="0"/>
              <a:t>Développer une API</a:t>
            </a:r>
          </a:p>
          <a:p>
            <a:pPr>
              <a:buFontTx/>
              <a:buChar char="-"/>
            </a:pPr>
            <a:endParaRPr lang="fr-FR" dirty="0"/>
          </a:p>
        </p:txBody>
      </p:sp>
      <p:pic>
        <p:nvPicPr>
          <p:cNvPr id="4" name="Image 3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71354E63-DDF4-BB34-142E-F274B3450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6A06A1-D058-CB32-228C-F7B09B31D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53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DC3757-35F2-B3A8-B0A0-8C2FD0409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4772" y="2955471"/>
            <a:ext cx="6762455" cy="947057"/>
          </a:xfrm>
        </p:spPr>
        <p:txBody>
          <a:bodyPr/>
          <a:lstStyle/>
          <a:p>
            <a:r>
              <a:rPr lang="fr-FR" dirty="0"/>
              <a:t>Merci de votre attention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0D83F0-8251-C588-60DB-ACFE72DB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07CE569E-9B7C-4CB9-AB80-C0841F922CFF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Image 4" descr="Une image contenant symbole, capture d’écran, Police, Graphique&#10;&#10;Description générée automatiquement">
            <a:extLst>
              <a:ext uri="{FF2B5EF4-FFF2-40B4-BE49-F238E27FC236}">
                <a16:creationId xmlns:a16="http://schemas.microsoft.com/office/drawing/2014/main" id="{9BB25755-7438-8185-6AA4-5AB56F0F9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697" y="-1"/>
            <a:ext cx="887283" cy="88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971288"/>
      </p:ext>
    </p:extLst>
  </p:cSld>
  <p:clrMapOvr>
    <a:masterClrMapping/>
  </p:clrMapOvr>
</p:sld>
</file>

<file path=ppt/theme/theme1.xml><?xml version="1.0" encoding="utf-8"?>
<a:theme xmlns:a="http://schemas.openxmlformats.org/drawingml/2006/main" name="Vue">
  <a:themeElements>
    <a:clrScheme name="Vue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ue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ue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TM03457515[[fn=Vue]]</Template>
  <TotalTime>623</TotalTime>
  <Words>543</Words>
  <Application>Microsoft Office PowerPoint</Application>
  <PresentationFormat>Grand écran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Schoolbook</vt:lpstr>
      <vt:lpstr>Wingdings 2</vt:lpstr>
      <vt:lpstr>Vue</vt:lpstr>
      <vt:lpstr>Computer Vision pour la lecture automatique de factures</vt:lpstr>
      <vt:lpstr>Contexte</vt:lpstr>
      <vt:lpstr>Solution Proposée</vt:lpstr>
      <vt:lpstr>Table des Matières</vt:lpstr>
      <vt:lpstr>Etat de l’Art</vt:lpstr>
      <vt:lpstr>Méthodologie de travail</vt:lpstr>
      <vt:lpstr>Résultats</vt:lpstr>
      <vt:lpstr>Projet V1</vt:lpstr>
      <vt:lpstr>Projet V1</vt:lpstr>
      <vt:lpstr>Projet V1</vt:lpstr>
      <vt:lpstr>Projet V2</vt:lpstr>
      <vt:lpstr>Google et Amazon</vt:lpstr>
      <vt:lpstr>Analyse des Résultats</vt:lpstr>
      <vt:lpstr>Conclusion et perspective d’avenir</vt:lpstr>
      <vt:lpstr>Conclusion et perspective d’avenir</vt:lpstr>
      <vt:lpstr>Merci de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pour la lecture automatique de factures</dc:title>
  <dc:creator>Arthur Parriaud</dc:creator>
  <cp:lastModifiedBy>Arthur Parriaud</cp:lastModifiedBy>
  <cp:revision>9</cp:revision>
  <dcterms:created xsi:type="dcterms:W3CDTF">2023-06-05T12:42:02Z</dcterms:created>
  <dcterms:modified xsi:type="dcterms:W3CDTF">2023-06-06T12:42:24Z</dcterms:modified>
</cp:coreProperties>
</file>